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solidFill>
              <a:srgbClr val="080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CHANDIGARH POLICE</a:t>
            </a:r>
          </a:p>
          <a:p>
            <a:pPr>
              <a:defRPr sz="5600" b="1">
                <a:solidFill>
                  <a:srgbClr val="FFB800"/>
                </a:solidFill>
                <a:latin typeface="Arial"/>
              </a:defRPr>
            </a:pPr>
            <a:r>
              <a:t>HACKATHON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0C1426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b="1" sz="1800">
                <a:solidFill>
                  <a:srgbClr val="FFFFFF"/>
                </a:solidFill>
                <a:latin typeface="Arial"/>
              </a:rPr>
              <a:t>TEAM NAME:</a:t>
            </a:r>
            <a:r>
              <a:rPr b="1" sz="1800">
                <a:solidFill>
                  <a:srgbClr val="FFB800"/>
                </a:solidFill>
                <a:latin typeface="Arial"/>
              </a:rPr>
              <a:t> ctrl addicts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FFFFF"/>
                </a:solidFill>
                <a:latin typeface="Arial"/>
              </a:rPr>
              <a:t>TEAM LEADER NAME:</a:t>
            </a:r>
            <a:r>
              <a:rPr b="1" sz="1800">
                <a:solidFill>
                  <a:srgbClr val="FFFFFF"/>
                </a:solidFill>
                <a:latin typeface="Arial"/>
              </a:rPr>
              <a:t> Prabhanshu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FFFFF"/>
                </a:solidFill>
                <a:latin typeface="Arial"/>
              </a:rPr>
              <a:t>INSTITUTION:</a:t>
            </a:r>
            <a:r>
              <a:rPr b="1" sz="1800">
                <a:solidFill>
                  <a:srgbClr val="FFFFFF"/>
                </a:solidFill>
                <a:latin typeface="Arial"/>
              </a:rPr>
              <a:t> UIET (Panjab University)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FFFFF"/>
                </a:solidFill>
                <a:latin typeface="Arial"/>
              </a:rPr>
              <a:t>PROBLEM STATEMENT:</a:t>
            </a:r>
            <a:r>
              <a:rPr b="1" sz="1800">
                <a:solidFill>
                  <a:srgbClr val="FFFFFF"/>
                </a:solidFill>
                <a:latin typeface="Arial"/>
              </a:rPr>
              <a:t> Detection of Illicit Drug Sales on Darknet and Encrypted Platforms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FFFFFF"/>
                </a:solidFill>
                <a:latin typeface="Arial"/>
              </a:rPr>
              <a:t>PROJECT NAME:</a:t>
            </a:r>
            <a:r>
              <a:rPr b="1" sz="1800">
                <a:solidFill>
                  <a:srgbClr val="FFB800"/>
                </a:solidFill>
                <a:latin typeface="Arial"/>
              </a:rPr>
              <a:t> pineSAW — Cyber Threat Intelligence &amp; Asset Discovery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solidFill>
              <a:srgbClr val="080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594360"/>
            <a:ext cx="4144975" cy="685800"/>
          </a:xfrm>
          <a:prstGeom prst="roundRect">
            <a:avLst/>
          </a:prstGeom>
          <a:solidFill>
            <a:srgbClr val="002244"/>
          </a:solidFill>
          <a:ln>
            <a:solidFill>
              <a:srgbClr val="00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B800"/>
                </a:solidFill>
                <a:latin typeface="Arial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Chandigarh Police Hackathon 2026 | Team ctrl addicts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500">
                <a:solidFill>
                  <a:srgbClr val="DC2626"/>
                </a:solidFill>
              </a:rPr>
              <a:t>●  </a:t>
            </a:r>
            <a:r>
              <a:rPr sz="1500">
                <a:solidFill>
                  <a:srgbClr val="1E293B"/>
                </a:solidFill>
                <a:latin typeface="Arial"/>
              </a:rPr>
              <a:t>Rapidly evolving illicit drug trade migrating to Darknet (Tor .onion) and encrypted channels (Telegram/Session).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DC2626"/>
                </a:solidFill>
              </a:rPr>
              <a:t>●  </a:t>
            </a:r>
            <a:r>
              <a:rPr sz="1500">
                <a:solidFill>
                  <a:srgbClr val="1E293B"/>
                </a:solidFill>
                <a:latin typeface="Arial"/>
              </a:rPr>
              <a:t>Multi-hop cryptocurrency obfuscation (Peel Chains, Mixers, Bridges) hiding over $2.5B in annual drug flows.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DC2626"/>
                </a:solidFill>
              </a:rPr>
              <a:t>●  </a:t>
            </a:r>
            <a:r>
              <a:rPr sz="1500">
                <a:solidFill>
                  <a:srgbClr val="1E293B"/>
                </a:solidFill>
                <a:latin typeface="Arial"/>
              </a:rPr>
              <a:t>Static reference libraries fail to identify encrypted slang, synthetic drug analogues, and coded vendor listings.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DC2626"/>
                </a:solidFill>
              </a:rPr>
              <a:t>●  </a:t>
            </a:r>
            <a:r>
              <a:rPr sz="1500">
                <a:solidFill>
                  <a:srgbClr val="1E293B"/>
                </a:solidFill>
                <a:latin typeface="Arial"/>
              </a:rPr>
              <a:t>Fragmented intelligence: Disconnected digital traces across darknet marketplaces, chats, and crypto ledgers.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DC2626"/>
                </a:solidFill>
              </a:rPr>
              <a:t>●  </a:t>
            </a:r>
            <a:r>
              <a:rPr sz="1500">
                <a:solidFill>
                  <a:srgbClr val="1E293B"/>
                </a:solidFill>
                <a:latin typeface="Arial"/>
              </a:rPr>
              <a:t>Evidentiary gap: Lack of transparent, court-admissible chain-of-custody connecting anonymous wallets to physical bank accounts.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DC2626"/>
                </a:solidFill>
              </a:rPr>
              <a:t>●  </a:t>
            </a:r>
            <a:r>
              <a:rPr sz="1500">
                <a:solidFill>
                  <a:srgbClr val="1E293B"/>
                </a:solidFill>
                <a:latin typeface="Arial"/>
              </a:rPr>
              <a:t>Investigative delays: Manual OSINT and blockchain correlation take weeks, allowing kingpins to cash out undetected.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solidFill>
              <a:srgbClr val="080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594360"/>
            <a:ext cx="4144975" cy="685800"/>
          </a:xfrm>
          <a:prstGeom prst="roundRect">
            <a:avLst/>
          </a:prstGeom>
          <a:solidFill>
            <a:srgbClr val="002244"/>
          </a:solidFill>
          <a:ln>
            <a:solidFill>
              <a:srgbClr val="00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B800"/>
                </a:solidFill>
                <a:latin typeface="Arial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Chandigarh Police Hackathon 2026 | Team ctrl addicts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300">
                <a:solidFill>
                  <a:srgbClr val="002244"/>
                </a:solidFill>
              </a:rPr>
              <a:t>PINESAW — AI-POWERED CYBER THREAT INTELLIGENCE &amp; ASSET DISCOVERY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32461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b="1" sz="1200">
                <a:solidFill>
                  <a:srgbClr val="002244"/>
                </a:solidFill>
              </a:rPr>
              <a:t>Multi-Modal Detection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Tor &amp; Telegram Ingestion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On-Chain Event Parsing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Surface OSINT Correlation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2272" y="1920240"/>
            <a:ext cx="32461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b="1" sz="1200">
                <a:solidFill>
                  <a:srgbClr val="002244"/>
                </a:solidFill>
              </a:rPr>
              <a:t>Adaptive Threat Intelligence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MIT Persona Linking Model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Cross-Market Identity Graph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Historical Case Memory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0144" y="1920240"/>
            <a:ext cx="32461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b="1" sz="1200">
                <a:solidFill>
                  <a:srgbClr val="002244"/>
                </a:solidFill>
              </a:rPr>
              <a:t>Intelligent Decision Support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Deterministic Risk Scoring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Velocity &amp; Anomaly Alerts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Multi-Hop Subgraph Tracing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31920"/>
            <a:ext cx="32461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b="1" sz="1200">
                <a:solidFill>
                  <a:srgbClr val="002244"/>
                </a:solidFill>
              </a:rPr>
              <a:t>AI-Powered Analysis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Cambridge Darknet Slang NER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Stanford Co-Spend Clustering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Entity Resolution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62272" y="3931920"/>
            <a:ext cx="32461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b="1" sz="1200">
                <a:solidFill>
                  <a:srgbClr val="002244"/>
                </a:solidFill>
              </a:rPr>
              <a:t>Financial Asset Review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Bidirectional Taint Analysis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4 Indian Bank Accounts Mapped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Offshore &amp; Mixer Discovery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3931920"/>
            <a:ext cx="32461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b="1" sz="1200">
                <a:solidFill>
                  <a:srgbClr val="002244"/>
                </a:solidFill>
              </a:rPr>
              <a:t>Secure Law Enforcement Suite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Section 91 CrPC Dossier Export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Tamper-Evident SHA-256 Logs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●  Police Command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solidFill>
              <a:srgbClr val="080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594360"/>
            <a:ext cx="4144975" cy="685800"/>
          </a:xfrm>
          <a:prstGeom prst="roundRect">
            <a:avLst/>
          </a:prstGeom>
          <a:solidFill>
            <a:srgbClr val="002244"/>
          </a:solidFill>
          <a:ln>
            <a:solidFill>
              <a:srgbClr val="00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B800"/>
                </a:solidFill>
                <a:latin typeface="Arial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Chandigarh Police Hackathon 2026 | Team ctrl addicts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0055CC"/>
                </a:solidFill>
              </a:rPr>
              <a:t>●  </a:t>
            </a:r>
            <a:r>
              <a:rPr b="1" sz="1400">
                <a:solidFill>
                  <a:srgbClr val="002244"/>
                </a:solidFill>
              </a:rPr>
              <a:t>Cross-Platform Identity Resolution: </a:t>
            </a:r>
            <a:r>
              <a:rPr sz="1350">
                <a:solidFill>
                  <a:srgbClr val="1E293B"/>
                </a:solidFill>
              </a:rPr>
              <a:t>Automatically links Tor vendors to Telegram handles via shared PGP keys and stylometry (backed by MIT Lincoln Laboratory research).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055CC"/>
                </a:solidFill>
              </a:rPr>
              <a:t>●  </a:t>
            </a:r>
            <a:r>
              <a:rPr b="1" sz="1400">
                <a:solidFill>
                  <a:srgbClr val="002244"/>
                </a:solidFill>
              </a:rPr>
              <a:t>Bidirectional Backtracking (Taint Analysis): </a:t>
            </a:r>
            <a:r>
              <a:rPr sz="1350">
                <a:solidFill>
                  <a:srgbClr val="1E293B"/>
                </a:solidFill>
              </a:rPr>
              <a:t>Traces crypto forward to exchanges and backtracks to uncover domestic bank accounts (HDFC, SBI, ICICI, Axis).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055CC"/>
                </a:solidFill>
              </a:rPr>
              <a:t>●  </a:t>
            </a:r>
            <a:r>
              <a:rPr b="1" sz="1400">
                <a:solidFill>
                  <a:srgbClr val="002244"/>
                </a:solidFill>
              </a:rPr>
              <a:t>Financial Supply Chain Disruption: </a:t>
            </a:r>
            <a:r>
              <a:rPr sz="1350">
                <a:solidFill>
                  <a:srgbClr val="1E293B"/>
                </a:solidFill>
              </a:rPr>
              <a:t>Targets cash-out bottlenecks under Section 68F of the NDPS Act rather than disposable couriers.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055CC"/>
                </a:solidFill>
              </a:rPr>
              <a:t>●  </a:t>
            </a:r>
            <a:r>
              <a:rPr b="1" sz="1400">
                <a:solidFill>
                  <a:srgbClr val="002244"/>
                </a:solidFill>
              </a:rPr>
              <a:t>Deterministic &amp; Explainable AI: </a:t>
            </a:r>
            <a:r>
              <a:rPr sz="1350">
                <a:solidFill>
                  <a:srgbClr val="1E293B"/>
                </a:solidFill>
              </a:rPr>
              <a:t>Replaces opaque black boxes with exact mathematical scoring based on network centrality and velocity anomalies.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055CC"/>
                </a:solidFill>
              </a:rPr>
              <a:t>●  </a:t>
            </a:r>
            <a:r>
              <a:rPr b="1" sz="1400">
                <a:solidFill>
                  <a:srgbClr val="002244"/>
                </a:solidFill>
              </a:rPr>
              <a:t>1-Click Evidentiary Legal Dossier: </a:t>
            </a:r>
            <a:r>
              <a:rPr sz="1350">
                <a:solidFill>
                  <a:srgbClr val="1E293B"/>
                </a:solidFill>
              </a:rPr>
              <a:t>Generates court-admissible Section 91 Cr.P.C. disclosure notices and bank freeze requisitions in seconds.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055CC"/>
                </a:solidFill>
              </a:rPr>
              <a:t>●  </a:t>
            </a:r>
            <a:r>
              <a:rPr b="1" sz="1400">
                <a:solidFill>
                  <a:srgbClr val="002244"/>
                </a:solidFill>
              </a:rPr>
              <a:t>Digital Chain-of-Custody: </a:t>
            </a:r>
            <a:r>
              <a:rPr sz="1350">
                <a:solidFill>
                  <a:srgbClr val="1E293B"/>
                </a:solidFill>
              </a:rPr>
              <a:t>Full cryptographic SHA-256 evidence hashing guaranteeing integrity under the Indian Evidence 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solidFill>
              <a:srgbClr val="080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594360"/>
            <a:ext cx="4144975" cy="685800"/>
          </a:xfrm>
          <a:prstGeom prst="roundRect">
            <a:avLst/>
          </a:prstGeom>
          <a:solidFill>
            <a:srgbClr val="002244"/>
          </a:solidFill>
          <a:ln>
            <a:solidFill>
              <a:srgbClr val="00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B800"/>
                </a:solidFill>
                <a:latin typeface="Arial"/>
              </a:rPr>
              <a:t>DELIVERABLES / PROPOSED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Chandigarh Police Hackathon 2026 | Team ctrl addicts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16A34A"/>
                </a:solidFill>
              </a:rPr>
              <a:t>✔  </a:t>
            </a:r>
            <a:r>
              <a:rPr b="1" sz="1400">
                <a:solidFill>
                  <a:srgbClr val="002244"/>
                </a:solidFill>
              </a:rPr>
              <a:t>Full-Stack Operational Police Intelligence Terminal: </a:t>
            </a:r>
            <a:r>
              <a:rPr sz="1350">
                <a:solidFill>
                  <a:srgbClr val="1E293B"/>
                </a:solidFill>
              </a:rPr>
              <a:t>Next.js 16 / Prisma deployed platform featuring institutional, high-density light UI.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6A34A"/>
                </a:solidFill>
              </a:rPr>
              <a:t>✔  </a:t>
            </a:r>
            <a:r>
              <a:rPr b="1" sz="1400">
                <a:solidFill>
                  <a:srgbClr val="002244"/>
                </a:solidFill>
              </a:rPr>
              <a:t>Knowledge Graph Resolution Engine: </a:t>
            </a:r>
            <a:r>
              <a:rPr sz="1350">
                <a:solidFill>
                  <a:srgbClr val="1E293B"/>
                </a:solidFill>
              </a:rPr>
              <a:t>Sub-second graph querying linking multi-market aliases, crypto clusters, and fiat nodes.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6A34A"/>
                </a:solidFill>
              </a:rPr>
              <a:t>✔  </a:t>
            </a:r>
            <a:r>
              <a:rPr b="1" sz="1400">
                <a:solidFill>
                  <a:srgbClr val="002244"/>
                </a:solidFill>
              </a:rPr>
              <a:t>Financial Asset Review Module (/financial): </a:t>
            </a:r>
            <a:r>
              <a:rPr sz="1350">
                <a:solidFill>
                  <a:srgbClr val="1E293B"/>
                </a:solidFill>
              </a:rPr>
              <a:t>Live mapping of domestic and offshore banking channels linked to target kingpins.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6A34A"/>
                </a:solidFill>
              </a:rPr>
              <a:t>✔  </a:t>
            </a:r>
            <a:r>
              <a:rPr b="1" sz="1400">
                <a:solidFill>
                  <a:srgbClr val="002244"/>
                </a:solidFill>
              </a:rPr>
              <a:t>Automated Subpoena &amp; Legal Export Suite: </a:t>
            </a:r>
            <a:r>
              <a:rPr sz="1350">
                <a:solidFill>
                  <a:srgbClr val="1E293B"/>
                </a:solidFill>
              </a:rPr>
              <a:t>Print-ready court dossiers with complete metadata and audit trails.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6A34A"/>
                </a:solidFill>
              </a:rPr>
              <a:t>✔  </a:t>
            </a:r>
            <a:r>
              <a:rPr b="1" sz="1400">
                <a:solidFill>
                  <a:srgbClr val="002244"/>
                </a:solidFill>
              </a:rPr>
              <a:t>Dramatic Lead-Time Compression: </a:t>
            </a:r>
            <a:r>
              <a:rPr sz="1350">
                <a:solidFill>
                  <a:srgbClr val="1E293B"/>
                </a:solidFill>
              </a:rPr>
              <a:t>Reduces preliminary forensic investigation from 14 days to under 500 milliseconds.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6A34A"/>
                </a:solidFill>
              </a:rPr>
              <a:t>✔  </a:t>
            </a:r>
            <a:r>
              <a:rPr b="1" sz="1400">
                <a:solidFill>
                  <a:srgbClr val="002244"/>
                </a:solidFill>
              </a:rPr>
              <a:t>Inter-Agency Compatibility: </a:t>
            </a:r>
            <a:r>
              <a:rPr sz="1350">
                <a:solidFill>
                  <a:srgbClr val="1E293B"/>
                </a:solidFill>
              </a:rPr>
              <a:t>Standardized intelligence schemas ready for Chandigarh Police, NCB, ED, and Interpol.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solidFill>
              <a:srgbClr val="080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594360"/>
            <a:ext cx="4144975" cy="685800"/>
          </a:xfrm>
          <a:prstGeom prst="roundRect">
            <a:avLst/>
          </a:prstGeom>
          <a:solidFill>
            <a:srgbClr val="002244"/>
          </a:solidFill>
          <a:ln>
            <a:solidFill>
              <a:srgbClr val="00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B800"/>
                </a:solidFill>
                <a:latin typeface="Arial"/>
              </a:rPr>
              <a:t>PROTOTYPE
(IMG OR VID IF ANY)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Chandigarh Police Hackathon 2026 | Team ctrl addicts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64748B"/>
                </a:solidFill>
              </a:rPr>
              <a:t>[ LIVE PROTOTYPE DEMONSTRATION / SCREENSHOTS EMBED HERE ]
Slot 1: Command Center Real-Time Incident Stream
Slot 2: Target Entity Knowledge Graph (ShadowBroker)
Slot 3: Financial Asset Review &amp; 1-Click Section 91 CrPC Subpoena Generator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solidFill>
              <a:srgbClr val="080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FB800"/>
                </a:solidFill>
                <a:latin typeface="Arial"/>
              </a:rPr>
              <a:t>THANK YOU</a:t>
            </a:r>
          </a:p>
          <a:p>
            <a:pPr algn="ctr">
              <a:spcBef>
                <a:spcPts val="1600"/>
              </a:spcBef>
            </a:pPr>
            <a:r>
              <a:rPr sz="1800">
                <a:solidFill>
                  <a:srgbClr val="FFFFFF"/>
                </a:solidFill>
                <a:latin typeface="Arial"/>
              </a:rPr>
              <a:t>Team ctrl addicts | UIET (Panjab University)
pineSAW Cyber Threat Intelligence System
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